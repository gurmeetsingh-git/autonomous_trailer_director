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RUNTIME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From uploaded video to validated trailer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F16F5B"/>
                </a:solidFill>
                <a:latin typeface="Aptos"/>
              </a:defRPr>
            </a:pPr>
            <a:r>
              <a:t>The actual execution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122320"/>
                </a:solidFill>
                <a:latin typeface="Aptos Display"/>
              </a:defRPr>
            </a:pPr>
            <a:r>
              <a:t>Every stage produces a concrete artifact consumed by the next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2032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8833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01 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9923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video.mp4</a:t>
            </a:r>
            <a:br/>
            <a:r>
              <a:t>FastAPI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08376" y="3017520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542032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68833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02  DEMUX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99923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audio.wav</a:t>
            </a:r>
            <a:br/>
            <a:r>
              <a:t>FFmpeg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24727" y="3017520"/>
            <a:ext cx="393193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2542032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8833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03  TRANSCRIBE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9923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audio_events</a:t>
            </a:r>
            <a:br/>
            <a:r>
              <a:t>Gemini / Whisper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3017520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07424" y="2542032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68833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04  CUT 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9923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scene cuts</a:t>
            </a:r>
            <a:br/>
            <a:r>
              <a:t>PySceneDetect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77856" y="3529584"/>
            <a:ext cx="0" cy="429768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" y="4050791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19709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05 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50799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ShotRecords</a:t>
            </a:r>
            <a:br/>
            <a:r>
              <a:t>Python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08376" y="4526279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4720" y="4050791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419709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06 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50799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visual fields</a:t>
            </a:r>
            <a:br/>
            <a:r>
              <a:t>FFmpeg + Gemini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24727" y="4526279"/>
            <a:ext cx="393193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91072" y="4050791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19709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07  STORY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0799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SceneAnalysis</a:t>
            </a:r>
            <a:br/>
            <a:r>
              <a:t>structured output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41080" y="4526279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07424" y="4050791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4197096"/>
            <a:ext cx="2075687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08  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507992"/>
            <a:ext cx="207568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audience EDL</a:t>
            </a:r>
            <a:br/>
            <a:r>
              <a:t>planner + Validator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B332F"/>
                </a:solidFill>
                <a:latin typeface="Aptos Mono"/>
              </a:defRPr>
            </a:pPr>
            <a:r>
              <a:t>09  RENDER  →  FFmpeg filtergraph (or OpenCV fallback)  →  trailer.mp4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INGESTION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Video is split into audio evidence and visual boundaries before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2194560" cy="356616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0EBE4"/>
                </a:solidFill>
                <a:latin typeface="Aptos Mono"/>
              </a:defRPr>
            </a:pPr>
            <a:r>
              <a:t>RAW 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episode.mp4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E0EBE4"/>
                </a:solidFill>
                <a:latin typeface="Aptos"/>
              </a:defRPr>
            </a:pPr>
            <a:r>
              <a:t>one source file</a:t>
            </a:r>
            <a:br/>
            <a:r>
              <a:t>multiple streams</a:t>
            </a:r>
            <a:br/>
            <a:r>
              <a:t>unknown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8308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1929384"/>
            <a:ext cx="1709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FFmpeg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2240280"/>
            <a:ext cx="1709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-vn</a:t>
            </a:r>
            <a:br/>
            <a:r>
              <a:t>pcm_s16le</a:t>
            </a:r>
            <a:br/>
            <a:r>
              <a:t>16 kHz mono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70332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3849624"/>
            <a:ext cx="17099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PySceneDetect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4160520"/>
            <a:ext cx="17099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hard visual</a:t>
            </a:r>
            <a:br/>
            <a:r>
              <a:t>cut boundaries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2468880"/>
            <a:ext cx="612648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71800" y="3611880"/>
            <a:ext cx="612648" cy="45720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75120" y="1572768"/>
            <a:ext cx="4572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874519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16F5B"/>
                </a:solidFill>
                <a:latin typeface="Aptos Mono"/>
              </a:defRPr>
            </a:pPr>
            <a:r>
              <a:t>TWO GROUNDED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423160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2487168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audio.wav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8716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transcribe_audio() → dialogue + events + timestamps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246120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3310127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cuts[]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10128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detect_scene_cuts() → start/end boundaries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069080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4133088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scene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133087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snap_scene_to_cuts(max_drift=2.0)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66C67"/>
                </a:solidFill>
                <a:latin typeface="Aptos Display"/>
              </a:defRPr>
            </a:pPr>
            <a:r>
              <a:t>The LLM sees structured evidence, not an unbounded video stream.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ATOMIC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ShotRecord: one immutable unit for audio, visual state, and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572000" cy="3977639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ShotRecord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60320"/>
            <a:ext cx="24231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624327"/>
            <a:ext cx="22037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shot_id | start |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063240"/>
            <a:ext cx="24231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27248"/>
            <a:ext cx="22037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audio: ShotAudio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566160"/>
            <a:ext cx="24231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630168"/>
            <a:ext cx="22037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visual: ShotVisual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069080"/>
            <a:ext cx="24231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133088"/>
            <a:ext cx="22037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coverage: audio_only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572000"/>
            <a:ext cx="24231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636008"/>
            <a:ext cx="22037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visual_needed: bool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743200"/>
            <a:ext cx="1097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E0EBE4"/>
                </a:solidFill>
                <a:latin typeface="Aptos"/>
              </a:defRPr>
            </a:pPr>
            <a:r>
              <a:t>PySceneDetect owns start/end. Code attaches overlapping audio. Vision fills only confirmable visual fields.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16F5B"/>
                </a:solidFill>
                <a:latin typeface="Aptos"/>
              </a:defRPr>
            </a:pPr>
            <a:r>
              <a:t>Architectural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24028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22320"/>
                </a:solidFill>
                <a:latin typeface="Aptos Display"/>
              </a:defRPr>
            </a:pPr>
            <a:r>
              <a:t>The LLM never authors the clock.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54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66C67"/>
                </a:solidFill>
                <a:latin typeface="Aptos"/>
              </a:defRPr>
            </a:pPr>
            <a:r>
              <a:t>•  Audio: dialogue and non-verbal events</a:t>
            </a:r>
          </a:p>
          <a:p>
            <a:pPr>
              <a:spcAft>
                <a:spcPts val="900"/>
              </a:spcAft>
              <a:defRPr sz="1500">
                <a:solidFill>
                  <a:srgbClr val="566C67"/>
                </a:solidFill>
                <a:latin typeface="Aptos"/>
              </a:defRPr>
            </a:pPr>
            <a:r>
              <a:t>•  Visual: characters, actions, location, objects</a:t>
            </a:r>
          </a:p>
          <a:p>
            <a:pPr>
              <a:spcAft>
                <a:spcPts val="900"/>
              </a:spcAft>
              <a:defRPr sz="1500">
                <a:solidFill>
                  <a:srgbClr val="566C67"/>
                </a:solidFill>
                <a:latin typeface="Aptos"/>
              </a:defRPr>
            </a:pPr>
            <a:r>
              <a:t>•  Coverage makes uncertainty explicit instead of hiding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VISION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Selective frames and silent-run batching reduce multimodal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320"/>
                </a:solidFill>
                <a:latin typeface="Aptos"/>
              </a:defRPr>
            </a:pPr>
            <a:r>
              <a:t>Only ambiguous shots cross the vision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569464"/>
            <a:ext cx="12070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880360"/>
            <a:ext cx="12070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visual_needed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2316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2569464"/>
            <a:ext cx="12070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880360"/>
            <a:ext cx="12070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2–3 frames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42316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2569464"/>
            <a:ext cx="12070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2880360"/>
            <a:ext cx="12070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silent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423160"/>
            <a:ext cx="1463040" cy="96012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569464"/>
            <a:ext cx="12070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880360"/>
            <a:ext cx="12070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ShotVisual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2898648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51960" y="2898648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17920" y="2898648"/>
            <a:ext cx="393192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178308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1031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Grouping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40"/>
            <a:ext cx="1920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66C67"/>
                </a:solidFill>
                <a:latin typeface="Aptos"/>
              </a:defRPr>
            </a:pPr>
            <a:r>
              <a:t>Silent + flagged shots may share one request. Dialogue-bearing shots remain singleton groups.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886200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3950208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group_shots_for_vision()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566C67"/>
                </a:solidFill>
                <a:latin typeface="Aptos"/>
              </a:defRPr>
            </a:pPr>
            <a:r>
              <a:t>Seek failures retry at timestamp − 0.5s. The pass is targeted, cacheable, and re-checkable.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NARRATIVE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From fine-grained evidence to macro SceneAnalysis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971800" cy="356616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0EBE4"/>
                </a:solidFill>
                <a:latin typeface="Aptos Mono"/>
              </a:defRPr>
            </a:pPr>
            <a:r>
              <a:t>SHOT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50+ timestamped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E0EBE4"/>
                </a:solidFill>
                <a:latin typeface="Aptos"/>
              </a:defRPr>
            </a:pPr>
            <a:r>
              <a:t>audio authority</a:t>
            </a:r>
            <a:br/>
            <a:r>
              <a:t>visual authority</a:t>
            </a:r>
            <a:br/>
            <a:r>
              <a:t>coverage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2971800" cy="356616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0EBE4"/>
                </a:solidFill>
                <a:latin typeface="Aptos Mono"/>
              </a:defRPr>
            </a:pPr>
            <a:r>
              <a:t>SCENE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4–8 macro beats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337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E0EBE4"/>
                </a:solidFill>
                <a:latin typeface="Aptos"/>
              </a:defRPr>
            </a:pPr>
            <a:r>
              <a:t>descriptions</a:t>
            </a:r>
            <a:br/>
            <a:r>
              <a:t>characters</a:t>
            </a:r>
            <a:br/>
            <a:r>
              <a:t>emotion + spoiler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2971800" cy="356616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 Mono"/>
              </a:defRPr>
            </a:pPr>
            <a:r>
              <a:t>EDIT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10–15 second beats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337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content_start</a:t>
            </a:r>
            <a:br/>
            <a:r>
              <a:t>content_end</a:t>
            </a:r>
            <a:br/>
            <a:r>
              <a:t>source_shots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474720"/>
            <a:ext cx="640080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0" y="3474720"/>
            <a:ext cx="640080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566C67"/>
                </a:solidFill>
                <a:latin typeface="Aptos"/>
              </a:defRPr>
            </a:pPr>
            <a:r>
              <a:t>Conflicting modalities are preserved as evidence, not silently resolved by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SAFETY 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Model proposals pass through deterministic policy interlocks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16F5B"/>
                </a:solidFill>
                <a:latin typeface="Aptos Mono"/>
              </a:defRPr>
            </a:pPr>
            <a: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16F5B"/>
                </a:solidFill>
                <a:latin typeface="Aptos Mono"/>
              </a:defRPr>
            </a:pPr>
            <a: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727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F16F5B"/>
                </a:solidFill>
                <a:latin typeface="Aptos Mono"/>
              </a:defRPr>
            </a:pPr>
            <a:r>
              <a:t>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10698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Existence + 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566C67"/>
                </a:solidFill>
                <a:latin typeface="Aptos"/>
              </a:defRPr>
            </a:pPr>
            <a:r>
              <a:t>scene_ids; start &lt;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A695E"/>
                </a:solidFill>
                <a:latin typeface="Aptos"/>
              </a:defRPr>
            </a:pPr>
            <a:r>
              <a:t>reject / replan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24328"/>
            <a:ext cx="10698480" cy="530352"/>
          </a:xfrm>
          <a:prstGeom prst="rect">
            <a:avLst/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6148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Spoiler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6148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566C67"/>
                </a:solidFill>
                <a:latin typeface="Aptos"/>
              </a:defRPr>
            </a:pPr>
            <a:r>
              <a:t>protected_facts + scene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61488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A695E"/>
                </a:solidFill>
                <a:latin typeface="Aptos"/>
              </a:defRPr>
            </a:pPr>
            <a:r>
              <a:t>drop candidate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82696"/>
            <a:ext cx="10698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9856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19856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566C67"/>
                </a:solidFill>
                <a:latin typeface="Aptos"/>
              </a:defRPr>
            </a:pPr>
            <a:r>
              <a:t>cleared_scene_ids + expiry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19856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A695E"/>
                </a:solidFill>
                <a:latin typeface="Aptos"/>
              </a:defRPr>
            </a:pPr>
            <a:r>
              <a:t>warning or exclusion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41064"/>
            <a:ext cx="10698480" cy="530352"/>
          </a:xfrm>
          <a:prstGeom prst="rect">
            <a:avLst/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7822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Rating + accessibility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782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566C67"/>
                </a:solidFill>
                <a:latin typeface="Aptos"/>
              </a:defRPr>
            </a:pPr>
            <a:r>
              <a:t>audience-specific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78224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A695E"/>
                </a:solidFill>
                <a:latin typeface="Aptos"/>
              </a:defRPr>
            </a:pPr>
            <a:r>
              <a:t>warning / reject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99431"/>
            <a:ext cx="10698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36592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22320"/>
                </a:solidFill>
                <a:latin typeface="Aptos"/>
              </a:defRPr>
            </a:pPr>
            <a:r>
              <a:t>Grounding + injection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566C67"/>
                </a:solidFill>
                <a:latin typeface="Aptos"/>
              </a:defRPr>
            </a:pPr>
            <a:r>
              <a:t>evidence and content scans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73659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A695E"/>
                </a:solidFill>
                <a:latin typeface="Aptos"/>
              </a:defRPr>
            </a:pPr>
            <a:r>
              <a:t>fail closed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5577840"/>
            <a:ext cx="6309360" cy="329184"/>
          </a:xfrm>
          <a:prstGeom prst="roundRect">
            <a:avLst>
              <a:gd name="adj" fmla="val 8000"/>
            </a:avLst>
          </a:prstGeom>
          <a:solidFill>
            <a:srgbClr val="E0EBE4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5641848"/>
            <a:ext cx="60899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0B332F"/>
                </a:solidFill>
                <a:latin typeface="Aptos Mono"/>
              </a:defRPr>
            </a:pPr>
            <a:r>
              <a:t>Validator.validate() -&gt; PASS | PASS_WITH_WARNINGS | REJECT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EDITORIAL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Pacing, text cards, and transitions are programmatic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22320"/>
                </a:solidFill>
                <a:latin typeface="Aptos"/>
              </a:defRPr>
            </a:pPr>
            <a:r>
              <a:t>The planner produces an auditable timeline. The renderer executes it literally.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95728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 Mono"/>
              </a:defRPr>
            </a:pPr>
            <a:r>
              <a:t>hard_cut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97480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E0EBE4"/>
                </a:solidFill>
                <a:latin typeface="Aptos"/>
              </a:defRPr>
            </a:pPr>
            <a:r>
              <a:t>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24028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395728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 Mono"/>
              </a:defRPr>
            </a:pPr>
            <a:r>
              <a:t>micropause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2697480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E0EBE4"/>
                </a:solidFill>
                <a:latin typeface="Aptos"/>
              </a:defRPr>
            </a:pPr>
            <a:r>
              <a:t>0.3s black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8328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538728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 Mono"/>
              </a:defRPr>
            </a:pPr>
            <a:r>
              <a:t>fade_to_black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840480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E0EBE4"/>
                </a:solidFill>
                <a:latin typeface="Aptos"/>
              </a:defRPr>
            </a:pPr>
            <a:r>
              <a:t>0.6s fade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38328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3538728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 Mono"/>
              </a:defRPr>
            </a:pPr>
            <a:r>
              <a:t>crossfade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840480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E0EBE4"/>
                </a:solidFill>
                <a:latin typeface="Aptos"/>
              </a:defRPr>
            </a:pPr>
            <a:r>
              <a:t>xfade + acrossfade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103120"/>
            <a:ext cx="42519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4231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22320"/>
                </a:solidFill>
                <a:latin typeface="Aptos"/>
              </a:defRPr>
            </a:pPr>
            <a:r>
              <a:t>Text card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971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66C67"/>
                </a:solidFill>
                <a:latin typeface="Aptos"/>
              </a:defRPr>
            </a:pPr>
            <a:r>
              <a:t>•  3–8 grounded words</a:t>
            </a:r>
          </a:p>
          <a:p>
            <a:pPr>
              <a:spcAft>
                <a:spcPts val="900"/>
              </a:spcAft>
              <a:defRPr sz="1400">
                <a:solidFill>
                  <a:srgbClr val="566C67"/>
                </a:solidFill>
                <a:latin typeface="Aptos"/>
              </a:defRPr>
            </a:pPr>
            <a:r>
              <a:t>•  duration clamped: 1.2–3.5s</a:t>
            </a:r>
          </a:p>
          <a:p>
            <a:pPr>
              <a:spcAft>
                <a:spcPts val="900"/>
              </a:spcAft>
              <a:defRPr sz="1400">
                <a:solidFill>
                  <a:srgbClr val="566C67"/>
                </a:solidFill>
                <a:latin typeface="Aptos"/>
              </a:defRPr>
            </a:pPr>
            <a:r>
              <a:t>•  synthetic black clip matches source resolution/fps</a:t>
            </a:r>
          </a:p>
          <a:p>
            <a:pPr>
              <a:spcAft>
                <a:spcPts val="900"/>
              </a:spcAft>
              <a:defRPr sz="1400">
                <a:solidFill>
                  <a:srgbClr val="566C67"/>
                </a:solidFill>
                <a:latin typeface="Aptos"/>
              </a:defRPr>
            </a:pPr>
            <a:r>
              <a:t>•  parallel transition bookkeeping prevents card index drift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Checkpointed runs make failure recoverable and feedback actionable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112264"/>
            <a:ext cx="157276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23160"/>
            <a:ext cx="1572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expensive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96596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2112264"/>
            <a:ext cx="157276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2423160"/>
            <a:ext cx="1572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runtime/pending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96596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14416" y="2112264"/>
            <a:ext cx="157276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DIRECTOR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2423160"/>
            <a:ext cx="1572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promise +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6596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2112264"/>
            <a:ext cx="157276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REPLAN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423160"/>
            <a:ext cx="1572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E0EBE4"/>
                </a:solidFill>
                <a:latin typeface="Aptos"/>
              </a:defRPr>
            </a:pPr>
            <a:r>
              <a:t>review graph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450592"/>
            <a:ext cx="411480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2450592"/>
            <a:ext cx="411480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2450592"/>
            <a:ext cx="411480" cy="0"/>
          </a:xfrm>
          <a:prstGeom prst="line">
            <a:avLst/>
          </a:prstGeom>
          <a:ln w="27940">
            <a:solidFill>
              <a:srgbClr val="F16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3886200"/>
            <a:ext cx="99669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1605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F16F5B"/>
                </a:solidFill>
                <a:latin typeface="Aptos"/>
              </a:defRPr>
            </a:pPr>
            <a:r>
              <a:t>Persisted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160520"/>
            <a:ext cx="7132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cuts  •  transcripts  •  ShotRecords  •  source media  •  selected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566C67"/>
                </a:solidFill>
                <a:latin typeface="Aptos"/>
              </a:defRPr>
            </a:pPr>
            <a:r>
              <a:t>A story-map failure retries the model call without repeating extraction, transcription, or vision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Deterministic NLE assembly with an OpenCV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983480" cy="352044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FFmpeg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AAC stereo at 48 kHz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YUV420p output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avoid_negative_ts make_zero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concat list + xfade/acrossfade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text cards and black 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983480" cy="3520440"/>
          </a:xfrm>
          <a:prstGeom prst="roundRect">
            <a:avLst>
              <a:gd name="adj" fmla="val 8000"/>
            </a:avLst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5740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OpenCV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974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activates when FFmpeg is absent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frame-level seek via CAP_PROP_POS_FRAMES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VideoWriter mp4v output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keeps local replay usable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566C67"/>
                </a:solidFill>
                <a:latin typeface="Aptos"/>
              </a:defRPr>
            </a:pPr>
            <a:r>
              <a:t>The output is assembled from verified source ranges, never generated as a new video by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16F5B"/>
                </a:solidFill>
                <a:latin typeface="Aptos Mono"/>
              </a:defRPr>
            </a:pPr>
            <a:r>
              <a:t>AUTONOMOUS TRAILER DIRECTOR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66C67"/>
                </a:solidFill>
                <a:latin typeface="Aptos Mono"/>
              </a:defRPr>
            </a:pPr>
            <a:r>
              <a:t>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22320"/>
                </a:solidFill>
                <a:latin typeface="Aptos Display"/>
              </a:defRPr>
            </a:pPr>
            <a:r>
              <a:t>A replayable foundation for production-grade editorial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263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66C67"/>
                </a:solidFill>
                <a:latin typeface="Aptos Mono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22320"/>
                </a:solidFill>
                <a:latin typeface="Aptos"/>
              </a:defRPr>
            </a:pPr>
            <a:r>
              <a:t>What this architecture buys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64592" cy="457200"/>
          </a:xfrm>
          <a:prstGeom prst="rect">
            <a:avLst/>
          </a:prstGeom>
          <a:solidFill>
            <a:srgbClr val="F16F5B"/>
          </a:solidFill>
          <a:ln>
            <a:solidFill>
              <a:srgbClr val="F1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7685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Determinism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76856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66C67"/>
                </a:solidFill>
                <a:latin typeface="Aptos"/>
              </a:defRPr>
            </a:pPr>
            <a:r>
              <a:t>same evidence -&gt; same replay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53512"/>
            <a:ext cx="164592" cy="457200"/>
          </a:xfrm>
          <a:prstGeom prst="rect">
            <a:avLst/>
          </a:prstGeom>
          <a:solidFill>
            <a:srgbClr val="1A695E"/>
          </a:solidFill>
          <a:ln>
            <a:solidFill>
              <a:srgbClr val="1A6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9008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90088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66C67"/>
                </a:solidFill>
                <a:latin typeface="Aptos"/>
              </a:defRPr>
            </a:pPr>
            <a:r>
              <a:t>vision only where ambiguity earns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666744"/>
            <a:ext cx="164592" cy="457200"/>
          </a:xfrm>
          <a:prstGeom prst="rect">
            <a:avLst/>
          </a:prstGeom>
          <a:solidFill>
            <a:srgbClr val="DEAE41"/>
          </a:solidFill>
          <a:ln>
            <a:solidFill>
              <a:srgbClr val="DEA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Fault tolerance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03320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66C67"/>
                </a:solidFill>
                <a:latin typeface="Aptos"/>
              </a:defRPr>
            </a:pPr>
            <a:r>
              <a:t>checkpoint + fallback renderer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379976"/>
            <a:ext cx="164592" cy="457200"/>
          </a:xfrm>
          <a:prstGeom prst="rect">
            <a:avLst/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4165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122320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416552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66C67"/>
                </a:solidFill>
                <a:latin typeface="Aptos"/>
              </a:defRPr>
            </a:pPr>
            <a:r>
              <a:t>decisions, evidence, validation 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691640"/>
            <a:ext cx="3611880" cy="3611880"/>
          </a:xfrm>
          <a:prstGeom prst="roundRect">
            <a:avLst>
              <a:gd name="adj" fmla="val 8000"/>
            </a:avLst>
          </a:prstGeom>
          <a:solidFill>
            <a:srgbClr val="0B332F"/>
          </a:solidFill>
          <a:ln>
            <a:solidFill>
              <a:srgbClr val="0B3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057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Next extensions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74320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beat-level rhythm detection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rights and contract adapters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renderer observability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human approval analytics</a:t>
            </a:r>
          </a:p>
          <a:p>
            <a:pPr>
              <a:spcAft>
                <a:spcPts val="900"/>
              </a:spcAft>
              <a:defRPr sz="1500">
                <a:solidFill>
                  <a:srgbClr val="E0EBE4"/>
                </a:solidFill>
                <a:latin typeface="Aptos"/>
              </a:defRPr>
            </a:pPr>
            <a:r>
              <a:t>•  multi-model semantic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16F5B"/>
                </a:solidFill>
                <a:latin typeface="Aptos"/>
              </a:defRPr>
            </a:pPr>
            <a:r>
              <a:t>The boundary stays stable: extract deterministically, reason sparsely, validate independently, render reproducibly.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